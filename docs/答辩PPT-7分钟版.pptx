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61" r:id="rId12"/>
    <p:sldId id="262" r:id="rId13"/>
    <p:sldId id="263" r:id="rId14"/>
    <p:sldId id="264" r:id="rId15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【15 秒 · 开场】</a:t>
            </a:r>
          </a:p>
          <a:p>
            <a:r>
              <a:t>"各位老师好，我是 AI221 班的王孝萌，学号 22480010119，指导教师王艳老师。我的毕业设计题目是《基于区块链的分布式 AI 数据确权系统设计》。下面开始汇报。"</a:t>
            </a:r>
          </a:p>
          <a:p>
            <a:r>
              <a:t>【动作】正对老师，停 1 秒让评委看清标题再开口。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 秒 · 提纲】</a:t>
            </a:r>
          </a:p>
          <a:p>
            <a:r>
              <a:t>"汇报包括五个部分：研究背景与意义、相关技术、系统设计、原型实现与实验验证、总结与展望。"</a:t>
            </a:r>
          </a:p>
          <a:p>
            <a:r>
              <a:t>【动作】一句话扫过 5 个圆圈。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【40 秒 · 背景 + 意义合并】</a:t>
            </a:r>
          </a:p>
          <a:p>
            <a:r>
              <a:t>"AI 模型性能取决于训练数据规模与质量。IDC 预测 2025 年全球数据突破 175 ZB，但高质量训练数据非常稀缺。当前数据要素市场面临四个问题：</a:t>
            </a:r>
          </a:p>
          <a:p>
            <a:r>
              <a:t>  确权困难——数据复制成本趋近于零；</a:t>
            </a:r>
          </a:p>
          <a:p>
            <a:r>
              <a:t>  收益不公——中心化平台主导定价；</a:t>
            </a:r>
          </a:p>
          <a:p>
            <a:r>
              <a:t>  隐私风险——集中存储一次泄漏全量外泄；</a:t>
            </a:r>
          </a:p>
          <a:p>
            <a:r>
              <a:t>  追溯缺失——数据用于训练后难以追踪。</a:t>
            </a:r>
          </a:p>
          <a:p>
            <a:r>
              <a:t>本研究在技术、经济、法律三个层面，为数据要素的可信流通提供基础设施。"</a:t>
            </a:r>
          </a:p>
          <a:p>
            <a:r>
              <a:t>【动作】依次指 4 张痛点卡片，最后一句"三个层面"放慢、语气收紧。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 秒 · 相关技术 · 只展开 3 个重点】</a:t>
            </a:r>
          </a:p>
          <a:p>
            <a:r>
              <a:t>"系统主要用到六类技术。这里讲三个最关键的：</a:t>
            </a:r>
          </a:p>
          <a:p>
            <a:r>
              <a:t>  SHA-256 为数据生成唯一指纹，具有雪崩效应——改动一个字节哈希就完全不同；</a:t>
            </a:r>
          </a:p>
          <a:p>
            <a:r>
              <a:t>  Solidity 0.8.20 编写智能合约，内置整数溢出保护；</a:t>
            </a:r>
          </a:p>
          <a:p>
            <a:r>
              <a:t>  简化 PoS 共识按权益加权随机选主，能耗低。</a:t>
            </a:r>
          </a:p>
          <a:p>
            <a:r>
              <a:t>Merkle 树、IPFS、区块链账本作为配套技术支撑。"</a:t>
            </a:r>
          </a:p>
          <a:p>
            <a:r>
              <a:t>【动作】只指 SHA-256、Solidity、PoS 三张卡，其余三个一句话带过。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【25 秒 · 系统总体架构】</a:t>
            </a:r>
          </a:p>
          <a:p>
            <a:r>
              <a:t>"系统采用三层架构：应用交互层包括 Streamlit 前端和命令行；业务逻辑层处理哈希计算、签名、合约调用；基础设施层由 EVM 区块链和 IPFS 分布式存储组成。"</a:t>
            </a:r>
          </a:p>
          <a:p>
            <a:r>
              <a:t>【动作】从上往下指三个横向色块。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【40 秒 · 确权机制 4 步】</a:t>
            </a:r>
          </a:p>
          <a:p>
            <a:r>
              <a:t>"确权机制分四步。</a:t>
            </a:r>
          </a:p>
          <a:p>
            <a:r>
              <a:t>  第一步：对原始数据计算 SHA-256 指纹；</a:t>
            </a:r>
          </a:p>
          <a:p>
            <a:r>
              <a:t>  第二步：原始数据 AES 加密后上传 IPFS 获得 CID；</a:t>
            </a:r>
          </a:p>
          <a:p>
            <a:r>
              <a:t>  第三步：把 dataId、owner、hash、CID、时间戳等六字段写入合约；</a:t>
            </a:r>
          </a:p>
          <a:p>
            <a:r>
              <a:t>  第四步是【时间优先裁决】——两个账户试图登记同一个哈希时，合约拒绝后来者，最早上链者获得产权优先权。"</a:t>
            </a:r>
          </a:p>
          <a:p>
            <a:r>
              <a:t>【动作】按顺序指 4 个圆圈，加重第 4 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 · 双合约实现 · 全场亮点】</a:t>
            </a:r>
          </a:p>
          <a:p>
            <a:r>
              <a:t>"原型采用【身份层 + 确权层】分层设计，部署两个相互协作的智能合约。</a:t>
            </a:r>
          </a:p>
          <a:p>
            <a:r>
              <a:t>  左边 IdentityRegistry——参与者实名登记合约，6 字段，提供 register/update/deactivate 三个写接口和 isActive/hasRole 两个查询，实测部署 Gas 约 170 万。</a:t>
            </a:r>
          </a:p>
          <a:p>
            <a:r>
              <a:t>  右边 DataRegistry——数据确权合约，7 字段，外部接口 register/verify/ownerOf。实测部署 Gas 155 万，register 27.6 万，verify 4.6 万。</a:t>
            </a:r>
          </a:p>
          <a:p>
            <a:r>
              <a:t>两个合约通过【调用而非继承】耦合——DataRegistry 在执行 register 之前会先调用 IdentityRegistry.isActive() 做身份前置校验。"</a:t>
            </a:r>
          </a:p>
          <a:p>
            <a:r>
              <a:t>【动作】左右卡片各一句，底部协同条作为收尾。</a:t>
            </a:r>
          </a:p>
          <a:p>
            <a:r>
              <a:t>【追问"为什么分两个合约"】答：分层便于各自独立升级，身份合约未来可换成中心化 KYC 或其它身份方案而不影响确权逻辑。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【15 秒 · 前端 + 引出录屏】</a:t>
            </a:r>
          </a:p>
          <a:p>
            <a:r>
              <a:t>"前端基于 Streamlit 实现了 5 个交互页面：身份登记、数据登记、完整性验证、所有权查询、链上浏览。下面用一段录屏展示完整闭环。"</a:t>
            </a:r>
          </a:p>
          <a:p>
            <a:r>
              <a:t>【动作】依次指 5 张截图，最后一句话作为引出，立刻翻页触发录屏。</a:t>
            </a:r>
          </a:p>
          <a:p/>
          <a:p>
            <a:r>
              <a:t>▶ 此页之后嵌入 90 秒静音录屏，现场配解说词（见演讲稿配套文件）。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 秒 · 完整性 + Gas 实测 · 数据高潮】</a:t>
            </a:r>
          </a:p>
          <a:p>
            <a:r>
              <a:t>"实验验证从三个维度展开。</a:t>
            </a:r>
          </a:p>
          <a:p>
            <a:r>
              <a:t>  性能方面：5 到 500 节点规模下做了 1520 次登记和 220 次验证，端到端延迟 P50 约 133 毫秒、P95 约 152 毫秒。</a:t>
            </a:r>
          </a:p>
          <a:p>
            <a:r>
              <a:t>  完整性方面：100 组改 1 字节实验，全部检测出篡改，检测率 100%。</a:t>
            </a:r>
          </a:p>
          <a:p>
            <a:r>
              <a:t>  Gas 方面【重点】——这些数字不是估算，是本地真实 EVM 实测。两个合约部署一次性成本约 100 美元，每笔身份登记 13.6 美元，每笔数据登记 16.6 美元，每笔完整性校验 2.8 美元。对 AI 数据资产这种低频高价值场景完全可接受。"</a:t>
            </a:r>
          </a:p>
          <a:p>
            <a:r>
              <a:t>【动作】左 CDF 图快速带过，重点讲右侧 Gas 表，加重"实测""真实 EVM"两个词。</a:t>
            </a:r>
          </a:p>
          <a:p>
            <a:r>
              <a:t>【追问部署地址】答：合约地址就是刚才录屏侧栏显示的两行，本地 py-evm 真实部署。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 秒 · 主要贡献】</a:t>
            </a:r>
          </a:p>
          <a:p>
            <a:r>
              <a:t>"主要贡献四点：</a:t>
            </a:r>
          </a:p>
          <a:p>
            <a:r>
              <a:t>  一是把区块链确权与 AI 数据特殊属性结合；</a:t>
            </a:r>
          </a:p>
          <a:p>
            <a:r>
              <a:t>  二是设计【链上索引 + 链下加密】混合存储；</a:t>
            </a:r>
          </a:p>
          <a:p>
            <a:r>
              <a:t>  三是做了完整原型——两合约 + Python 双通路 + 5 页前端，共【29 项测试】全部通过；</a:t>
            </a:r>
          </a:p>
          <a:p>
            <a:r>
              <a:t>  四是 Gas 数字是真实 EVM 实测，不是估算。"</a:t>
            </a:r>
          </a:p>
          <a:p>
            <a:r>
              <a:t>【动作】指 4 个卡片，重点强调第三、第四点。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 秒 · 不足与展望】</a:t>
            </a:r>
          </a:p>
          <a:p>
            <a:r>
              <a:t>"不足：尚未部署到 Sepolia 公网、数据使用溯源未实现、AES 密钥管理依赖线下交换。</a:t>
            </a:r>
          </a:p>
          <a:p>
            <a:r>
              <a:t>未来方向：部署公网实测、结合联邦学习实现数据不出本地、对接国内数据要素合规框架。"</a:t>
            </a:r>
          </a:p>
          <a:p>
            <a:r>
              <a:t>【动作】左右对照，左栏读不足、右栏读展望。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 秒 · 结束】</a:t>
            </a:r>
          </a:p>
          <a:p>
            <a:r>
              <a:t>"汇报完毕，恳请各位老师批评指正，谢谢。"</a:t>
            </a:r>
          </a:p>
          <a:p>
            <a:r>
              <a:t>【动作】鞠躬 / 点头示意。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64592" cy="73152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CFDAEA"/>
                </a:solidFill>
                <a:latin typeface="微软雅黑"/>
                <a:ea typeface="微软雅黑"/>
                <a:cs typeface="微软雅黑"/>
              </a:rPr>
              <a:t>毕业设计（论文）答辩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基于区块链的分布式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数据确权系统设计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学生：王孝萌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学号：22480010119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班级：AI221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754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指导教师：王 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ABDD6"/>
                </a:solidFill>
                <a:latin typeface="微软雅黑"/>
                <a:ea typeface="微软雅黑"/>
                <a:cs typeface="微软雅黑"/>
              </a:rPr>
              <a:t>宁波工程学院 · 机器人学院 · 人工智能专业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ABDD6"/>
                </a:solidFill>
                <a:latin typeface="微软雅黑"/>
                <a:ea typeface="微软雅黑"/>
                <a:cs typeface="微软雅黑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640080" cy="6400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618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研究背景与意义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642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AI 数据确权痛点与研究价值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762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相关技术介绍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78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区块链 / SHA-256 / IPFS / 智能合约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60"/>
            <a:ext cx="640080" cy="6400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90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系统设计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930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架构 · 确权机制 · 混合存储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050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原型实现与实验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074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Solidity + Python 仿真 + Streamlit 前端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37760"/>
            <a:ext cx="640080" cy="64008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194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218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主要贡献 · 不足 · 未来方向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AI 模型训练 ≈ 高质量数据 · 但数据要素市场面临四重困境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1920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确权困难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数据复制成本趋近于零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缺少可验证的唯一标识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554480"/>
            <a:ext cx="5486400" cy="1920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收益不公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24028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中心化平台主导定价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原始提供者所得极少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486400" cy="1920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319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隐私风险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43484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集中存储结构性单点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一次泄漏即全量外泄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749039"/>
            <a:ext cx="5486400" cy="1920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39319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追溯缺失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43484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数据一旦用于训练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难以追踪后续使用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相关技术栈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1615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区块链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去中心化账本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不可篡改 · 可追溯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657600" cy="365760"/>
          </a:xfrm>
          <a:prstGeom prst="rect">
            <a:avLst/>
          </a:prstGeom>
          <a:solidFill>
            <a:srgbClr val="2D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1615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SHA-256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数据指纹算法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雪崩效应 · 抗碰撞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4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188720"/>
            <a:ext cx="3657600" cy="365760"/>
          </a:xfrm>
          <a:prstGeom prst="rect">
            <a:avLst/>
          </a:prstGeom>
          <a:solidFill>
            <a:srgbClr val="8A4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1615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Merkle 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批量数据高效验证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部分数据可证明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3657600" cy="36576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IPFS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内容寻址分布式存储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链上仅存 CID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1188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8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11880"/>
            <a:ext cx="3657600" cy="365760"/>
          </a:xfrm>
          <a:prstGeom prst="rect">
            <a:avLst/>
          </a:prstGeom>
          <a:solidFill>
            <a:srgbClr val="2E5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63931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Solidity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0624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智能合约开发语言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0.8.x 溢出保护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1188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11880"/>
            <a:ext cx="3657600" cy="36576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639312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PoS 共识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0624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权益加权选主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能耗低 · 可扩展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三层架构：应用交互层 → 业务逻辑层 → 基础设施层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109728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3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应用交互层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Streamlit 前端 · CLI · 用户钱包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35040" y="2670048"/>
            <a:ext cx="182880" cy="256032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72800" cy="1097280"/>
          </a:xfrm>
          <a:prstGeom prst="roundRect">
            <a:avLst/>
          </a:prstGeom>
          <a:solidFill>
            <a:srgbClr val="FDEED7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业务逻辑层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数据哈希 · 签名 · 请求路由 · 合约调用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35040" y="4041648"/>
            <a:ext cx="182880" cy="256032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1097280"/>
          </a:xfrm>
          <a:prstGeom prst="roundRect">
            <a:avLst/>
          </a:prstGeom>
          <a:solidFill>
            <a:srgbClr val="E2EEE4"/>
          </a:solidFill>
          <a:ln w="19050">
            <a:solidFill>
              <a:srgbClr val="2D7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D7D5A"/>
                </a:solidFill>
                <a:latin typeface="微软雅黑"/>
                <a:ea typeface="微软雅黑"/>
                <a:cs typeface="微软雅黑"/>
              </a:rPr>
              <a:t>基础设施层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区块链网络（DataRegistry 合约） · IPFS 分布式存储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数据确权机制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数据指纹 + 链上时间戳 + 时间优先原则 = 不可篡改的产权证据链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554480"/>
            <a:ext cx="822960" cy="82296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283464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计算 SHA-256 指纹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对原始数据进行哈希，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批量数据用 Merkle 根聚合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55848" y="1874519"/>
            <a:ext cx="164592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554480"/>
            <a:ext cx="822960" cy="82296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60320"/>
            <a:ext cx="283464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生成 IPFS CID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57600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原始数据 AES 加密后上传 IPFS，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获得内容标识符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81928" y="1874519"/>
            <a:ext cx="164592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60920" y="1554480"/>
            <a:ext cx="822960" cy="82296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560320"/>
            <a:ext cx="283464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链上登记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57600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dataId · owner · hash · CID · timestamp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六字段组合写入合约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08008" y="1874519"/>
            <a:ext cx="164592" cy="18288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87000" y="1554480"/>
            <a:ext cx="822960" cy="82296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2560320"/>
            <a:ext cx="283464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时间优先裁决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657600"/>
            <a:ext cx="2560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hashToId 映射防重复登记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冲突时以链上时间戳为准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智能合约实现 · 两个合约分层协同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身份层 IdentityRegistry  +  确权层 DataRegistry  ·  真实 EVM 已部署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3212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53212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IdentityRegistry · 身份登记合约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031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参与者链上实名登记 · 作为确权前置条件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74320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wallet / orgName / role / authHash / timestamps / isActive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7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83279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register · update · deactivate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023359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isActive · hasRole · getIdentity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66344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IdentityRegistered · Updated · Deactivated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实测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035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部署 1,699,874  ·  register 227,279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463040"/>
            <a:ext cx="553212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463040"/>
            <a:ext cx="5532120" cy="4572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DataRegistry · 数据确权合约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03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职责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1031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AI 数据资产链上确权 + 一致性校验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字段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74320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owner / dataHash / CID / dataType / license / ts / isActive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7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383279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register · verify · deactivate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23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查询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023359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ownerOf · lookupByHash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634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事件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66344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DataRegistered · Verified · Deactivated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03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C1A"/>
                </a:solidFill>
                <a:latin typeface="微软雅黑"/>
                <a:ea typeface="微软雅黑"/>
                <a:cs typeface="微软雅黑"/>
              </a:rPr>
              <a:t>实测 Gas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30352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部署 1,555,243  ·  register 275,917  ·  verify 46,097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263640"/>
            <a:ext cx="11201400" cy="457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协同调用：DataRegistry.register() 内部会调用 IdentityRegistry.isActive() 做前置身份校验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Streamlit 前端原型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 个交互页面：身份登记 · 数据登记 · 完整性验证 · 所有权查询 · 链上浏览</a:t>
            </a:r>
          </a:p>
        </p:txBody>
      </p:sp>
      <p:pic>
        <p:nvPicPr>
          <p:cNvPr id="6" name="Picture 5" descr="frontend-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3794760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335024"/>
            <a:ext cx="1691640" cy="3200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身份登记</a:t>
            </a:r>
          </a:p>
        </p:txBody>
      </p:sp>
      <p:pic>
        <p:nvPicPr>
          <p:cNvPr id="9" name="Picture 8" descr="fronten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79476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43400" y="1335024"/>
            <a:ext cx="1691640" cy="3200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5331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数据登记</a:t>
            </a:r>
          </a:p>
        </p:txBody>
      </p:sp>
      <p:pic>
        <p:nvPicPr>
          <p:cNvPr id="12" name="Picture 11" descr="frontend-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371600"/>
            <a:ext cx="3794760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66760" y="1335024"/>
            <a:ext cx="1691640" cy="3200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5331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完整性验证</a:t>
            </a:r>
          </a:p>
        </p:txBody>
      </p:sp>
      <p:pic>
        <p:nvPicPr>
          <p:cNvPr id="15" name="Picture 14" descr="frontend-ow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3931920"/>
            <a:ext cx="3794760" cy="23774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31720" y="3895344"/>
            <a:ext cx="1691640" cy="3200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91363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所有权查询</a:t>
            </a:r>
          </a:p>
        </p:txBody>
      </p:sp>
      <p:pic>
        <p:nvPicPr>
          <p:cNvPr id="18" name="Picture 17" descr="frontend-brow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931920"/>
            <a:ext cx="3794760" cy="23774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55080" y="3895344"/>
            <a:ext cx="1691640" cy="3200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链上浏览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完整性实验 + Gas 实测</a:t>
            </a:r>
          </a:p>
        </p:txBody>
      </p:sp>
      <p:pic>
        <p:nvPicPr>
          <p:cNvPr id="5" name="Picture 4" descr="rights-verification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两合约 Gas 实测（本地真实 EVM）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74519"/>
            <a:ext cx="5486400" cy="384048"/>
          </a:xfrm>
          <a:prstGeom prst="rect">
            <a:avLst/>
          </a:prstGeom>
          <a:solidFill>
            <a:srgbClr val="1F3A68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92807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合约 · 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92807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实测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892807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USD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58568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76856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Identity · 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276856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1,699,874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27685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≈ $102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642615"/>
            <a:ext cx="5486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60903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Identity ·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60903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227,279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660903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≈ $13.6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26663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44951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Data · 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044951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1,555,243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3044951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≈ $93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10711"/>
            <a:ext cx="5486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28999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Data ·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428999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275,917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428999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≈ $16.6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94760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81304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Data ·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813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46,097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81304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≈ $2.8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篡改 1 字节 → 检测率 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主要贡献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577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5448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AI 数据场景适配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39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将区块链确权与 AI 训练数据的特殊属性结合，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设计了颗粒度-效率平衡的确权方案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77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600200"/>
            <a:ext cx="685800" cy="6858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19" y="155448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混合存储架构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19" y="2148839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链上索引 + 链下加密存储，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在控制上链成本的同时保障数据安全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5577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79"/>
            <a:ext cx="685800" cy="6858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59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完整原型系统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1772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两合约 + Python 仿真 + 5 页前端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共 29 项测试（18 registry + 11 EVM）全部通过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577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4069079"/>
            <a:ext cx="685800" cy="6858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4023359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68"/>
                </a:solidFill>
                <a:latin typeface="微软雅黑"/>
                <a:ea typeface="微软雅黑"/>
                <a:cs typeface="微软雅黑"/>
              </a:rPr>
              <a:t>系统性实验验证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461772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从性能、完整性、Gas 成本三维度验证，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核心功能运行正常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不足与展望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8A3A3A"/>
                </a:solidFill>
                <a:latin typeface="微软雅黑"/>
                <a:ea typeface="微软雅黑"/>
                <a:cs typeface="微软雅黑"/>
              </a:rPr>
              <a:t>当前工作的不足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38528"/>
            <a:ext cx="146304" cy="146304"/>
          </a:xfrm>
          <a:prstGeom prst="ellipse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合约在本地真实 EVM (py-evm) 已部署，尚未迁至 Sepolia 公网测试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146304" cy="146304"/>
          </a:xfrm>
          <a:prstGeom prst="ellipse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仅覆盖确权与验证，未实现数据使用溯源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93008"/>
            <a:ext cx="146304" cy="146304"/>
          </a:xfrm>
          <a:prstGeom prst="ellipse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前端功能基础，缺权限管理与审计日志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70248"/>
            <a:ext cx="146304" cy="146304"/>
          </a:xfrm>
          <a:prstGeom prst="ellipse">
            <a:avLst/>
          </a:prstGeom>
          <a:solidFill>
            <a:srgbClr val="8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AES 密钥管理依赖线下交换，欠缺密钥协议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D7D5A"/>
                </a:solidFill>
                <a:latin typeface="微软雅黑"/>
                <a:ea typeface="微软雅黑"/>
                <a:cs typeface="微软雅黑"/>
              </a:rPr>
              <a:t>未来研究方向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1938528"/>
            <a:ext cx="146304" cy="146304"/>
          </a:xfrm>
          <a:prstGeom prst="ellipse">
            <a:avLst/>
          </a:prstGeom>
          <a:solidFill>
            <a:srgbClr val="2D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8288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合约部署至 Sepolia / 联盟链实测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715768"/>
            <a:ext cx="146304" cy="146304"/>
          </a:xfrm>
          <a:prstGeom prst="ellipse">
            <a:avLst/>
          </a:prstGeom>
          <a:solidFill>
            <a:srgbClr val="2D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60604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结合联邦学习实现「数据不出本地」的训练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493008"/>
            <a:ext cx="146304" cy="146304"/>
          </a:xfrm>
          <a:prstGeom prst="ellipse">
            <a:avLst/>
          </a:prstGeom>
          <a:solidFill>
            <a:srgbClr val="2D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3832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跨链互操作支持数据资产的跨链迁移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270248"/>
            <a:ext cx="146304" cy="146304"/>
          </a:xfrm>
          <a:prstGeom prst="ellipse">
            <a:avLst/>
          </a:prstGeom>
          <a:solidFill>
            <a:srgbClr val="2D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1605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对接国内数据要素市场化合规框架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宁波工程学院 · 机器人学院 AI221 · 王孝萌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889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CFDAEA"/>
                </a:solidFill>
                <a:latin typeface="微软雅黑"/>
                <a:ea typeface="微软雅黑"/>
                <a:cs typeface="微软雅黑"/>
              </a:rPr>
              <a:t>恳请各位老师批评指正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AABDD6"/>
                </a:solidFill>
                <a:latin typeface="微软雅黑"/>
                <a:ea typeface="微软雅黑"/>
                <a:cs typeface="微软雅黑"/>
              </a:rPr>
              <a:t>王孝萌  ·  AI221  ·  指导教师：王艳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AABDD6"/>
                </a:solidFill>
                <a:latin typeface="微软雅黑"/>
                <a:ea typeface="微软雅黑"/>
                <a:cs typeface="微软雅黑"/>
              </a:rPr>
              <a:t>2026.05  宁波工程学院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